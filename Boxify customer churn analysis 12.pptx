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Churned Customers by Age Group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4.0434342074762021E-2"/>
          <c:y val="0.21051198257080611"/>
          <c:w val="0.92157895327186667"/>
          <c:h val="0.6950341378896265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56–60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27</c:v>
                </c:pt>
                <c:pt idx="2">
                  <c:v>38</c:v>
                </c:pt>
                <c:pt idx="3">
                  <c:v>35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21-4846-9FD7-5DC7685B0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 dirty="0"/>
              <a:t>                                           Churned Customers by Subscription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Churned Customers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Basic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24</c:v>
                </c:pt>
                <c:pt idx="2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EC-4A4A-AD6A-DB0FE1EFD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Churn Rate by Engagement Level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cat>
            <c:numRef>
              <c:f>Sheet1!$A$2:$A$19</c:f>
              <c:numCache>
                <c:formatCode>General</c:formatCode>
                <c:ptCount val="1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18</c:v>
                </c:pt>
              </c:numCache>
            </c:num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22.222222222222221</c:v>
                </c:pt>
                <c:pt idx="1">
                  <c:v>57.142857142857139</c:v>
                </c:pt>
                <c:pt idx="2">
                  <c:v>8.3333333333333321</c:v>
                </c:pt>
                <c:pt idx="3">
                  <c:v>32.142857142857146</c:v>
                </c:pt>
                <c:pt idx="4">
                  <c:v>31.03448275862069</c:v>
                </c:pt>
                <c:pt idx="5">
                  <c:v>17.721518987341771</c:v>
                </c:pt>
                <c:pt idx="6">
                  <c:v>17.708333333333336</c:v>
                </c:pt>
                <c:pt idx="7">
                  <c:v>16.239316239316238</c:v>
                </c:pt>
                <c:pt idx="8">
                  <c:v>6.7669172932330826</c:v>
                </c:pt>
                <c:pt idx="9">
                  <c:v>5.1851851851851851</c:v>
                </c:pt>
                <c:pt idx="10">
                  <c:v>9.1743119266055047</c:v>
                </c:pt>
                <c:pt idx="11">
                  <c:v>12.345679012345679</c:v>
                </c:pt>
                <c:pt idx="12">
                  <c:v>9.0909090909090917</c:v>
                </c:pt>
                <c:pt idx="13">
                  <c:v>14.285714285714285</c:v>
                </c:pt>
                <c:pt idx="14">
                  <c:v>5.8823529411764701</c:v>
                </c:pt>
                <c:pt idx="15">
                  <c:v>14.285714285714285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17-4911-B14F-26BA1F3E67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IN"/>
              <a:t>Average CLV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CLV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15941.722863741339</c:v>
                </c:pt>
                <c:pt idx="1">
                  <c:v>2617.5223880597014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B2-4F20-85CE-759D618F5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0.13725</cdr:y>
    </cdr:from>
    <cdr:to>
      <cdr:x>0.79263</cdr:x>
      <cdr:y>1</cdr:y>
    </cdr:to>
    <cdr:pic>
      <cdr:nvPicPr>
        <cdr:cNvPr id="5" name="Picture 4">
          <a:extLst xmlns:a="http://schemas.openxmlformats.org/drawingml/2006/main">
            <a:ext uri="{FF2B5EF4-FFF2-40B4-BE49-F238E27FC236}">
              <a16:creationId xmlns:a16="http://schemas.microsoft.com/office/drawing/2014/main" id="{4C3D5434-CB56-06BA-A231-E2D245CE0AD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896112" y="320040"/>
          <a:ext cx="4239979" cy="201168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0.16165</cdr:y>
    </cdr:from>
    <cdr:to>
      <cdr:x>0.99444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A73CE650-BF6B-2DD6-F69F-698BDD05B39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443435"/>
          <a:ext cx="5455919" cy="2299765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Customer Churn Analysis</a:t>
            </a:r>
          </a:p>
          <a:p>
            <a:pPr>
              <a:spcBef>
                <a:spcPts val="1000"/>
              </a:spcBef>
              <a:defRPr sz="2000">
                <a:solidFill>
                  <a:srgbClr val="D2E1F8"/>
                </a:solidFill>
              </a:defRPr>
            </a:pPr>
            <a:r>
              <a:rPr dirty="0"/>
              <a:t>Improving Customer Retention Through Data-Driven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3AFC3"/>
                </a:solidFill>
              </a:defRPr>
            </a:pPr>
            <a:r>
              <a:t>Boxify Inc.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Presented by : Data Analyst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3703320"/>
            <a:ext cx="132588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1,000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Total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3703320"/>
            <a:ext cx="1325880" cy="64008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69680" y="3703320"/>
            <a:ext cx="132588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13.4%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Churn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3703320"/>
            <a:ext cx="1325880" cy="64008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378440" y="3703320"/>
            <a:ext cx="132588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26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High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78440" y="3703320"/>
            <a:ext cx="132588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D2EB"/>
                </a:solidFill>
              </a:defRPr>
            </a:pPr>
            <a:r>
              <a:t>Boxify Inc.  |  Customer Churn Analysis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</a:defRPr>
            </a:pPr>
            <a:r>
              <a:t>Business challenge, objective and expected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⚡ Business Challenge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Subscription cancellations reduce recurring revenue.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Churn also reduces potential customer lifetime value.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Management needs to identify high-risk customers and segments.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🎯 Project Objective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Understand customer churn behavior.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Identify high-risk customer segments.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Measure business impact using churn, CLV and revenue lost.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Recommend practical retention strategies.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0" y="1335712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📈 Expected Outcome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Reduce churn over the next 6 months.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Increase customer engagement and loyalty.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Improve customer lifetime value.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Reduce revenue loss from cancellations.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25880"/>
            <a:ext cx="73152" cy="448056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Understanding &amp; Analytical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🔍 Business Questions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Which customer segments have the highest churn?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How does customer engagement influence churn?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How does CLV differ between active and churned customers?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Which customers should be prioritized for retention?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What strategies can reduce future churn?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475488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53949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⚙️ Analytical Process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1. Business Understanding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2. Data Preparation &amp; Cleaning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3. Feature Engineering — Age Group &amp; Risk Level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4. KPI Development using DAX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5. Power BI Dashboard Development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6. Business Insights &amp;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34440"/>
            <a:ext cx="73152" cy="475488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82"/>
                </a:solidFill>
              </a:defRPr>
            </a:pPr>
            <a:r>
              <a:t>Final Power BI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935AA1-00D7-1FB3-E631-5D1B2877A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995"/>
            <a:ext cx="12192000" cy="63180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rPr dirty="0"/>
              <a:t>Business Question 1: Which Customer Segments Have the Highest Churn?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00820"/>
              </p:ext>
            </p:extLst>
          </p:nvPr>
        </p:nvGraphicFramePr>
        <p:xfrm>
          <a:off x="229269" y="1307592"/>
          <a:ext cx="5349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866731"/>
              </p:ext>
            </p:extLst>
          </p:nvPr>
        </p:nvGraphicFramePr>
        <p:xfrm>
          <a:off x="6172200" y="1234440"/>
          <a:ext cx="5349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79476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📊 Key Findings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36–45 has the highest churn rate at 15.6%.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Standard has the highest subscription-type churn rate at 14.3%.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Pune has the highest observed location churn rate at 17.6%.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94760"/>
            <a:ext cx="73152" cy="2011680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379476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💡 Business Insight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Segment-specific retention campaigns can be more focused than one-size-fits-all offers.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Shorter-tenure and monthly customers should be monitored early.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Location filters can support localized retention actions.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3794760"/>
            <a:ext cx="73152" cy="201168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D32751-5FD3-59AE-C551-AE60DAF9A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206" y="1687992"/>
            <a:ext cx="4858925" cy="18781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9D6606-CBA4-C92D-E71C-F7F504670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669" y="1704714"/>
            <a:ext cx="2637973" cy="1934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50962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rPr lang="en-US" dirty="0"/>
              <a:t>   2.</a:t>
            </a:r>
            <a:r>
              <a:rPr dirty="0"/>
              <a:t> How Does Customer Engagement Influence Churn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853638"/>
              </p:ext>
            </p:extLst>
          </p:nvPr>
        </p:nvGraphicFramePr>
        <p:xfrm>
          <a:off x="640080" y="118872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46520" y="13258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29.8%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Low engagement (0–4)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1325880"/>
            <a:ext cx="224028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0" y="13258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8.4%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Higher engagement (8+) churn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325880"/>
            <a:ext cx="2240280" cy="64008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6520" y="2880360"/>
            <a:ext cx="4754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💡 Business Insight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The current dataset shows an inverse relationship: churn tends to be higher at lower engagement.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Low-engagement customers can be treated as an early-warning segment.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Onboarding, nudges and re-engagement can be tested for this group.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880360"/>
            <a:ext cx="73152" cy="251460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3: Customer Lifetime Value &amp; Revenue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₹15,942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Average CLV — Active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3246120" cy="64008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6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₹2,618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Average CLV — Churned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188720"/>
            <a:ext cx="3246120" cy="64008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18120" y="1208384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₹350,748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Revenue Lost Due to Churn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188720"/>
            <a:ext cx="324612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Char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373743"/>
              </p:ext>
            </p:extLst>
          </p:nvPr>
        </p:nvGraphicFramePr>
        <p:xfrm>
          <a:off x="685800" y="2703872"/>
          <a:ext cx="5303520" cy="2028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17920" y="292608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💰 Business Insight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Active customers have higher average CLV than churned customers in the prepared dataset.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Retention protects both recurring revenue and future customer value.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CLV should be monitored alongside churn when prioritizing retention efforts.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73152" cy="242316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F058E3-2EFB-29C1-E771-5B1C2AB83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66" y="4945406"/>
            <a:ext cx="3668982" cy="16956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GG    FSS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4: Identifying Potential Churn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EDE66-DD5B-FB32-F4B7-8C844B7EA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22" y="1051966"/>
            <a:ext cx="3772426" cy="3025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752019-68A7-1DC1-F979-550368F7A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478" y="1368757"/>
            <a:ext cx="4053568" cy="2709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B9503-9E19-53FF-5E4A-E29798BE2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394" y="3371842"/>
            <a:ext cx="257211" cy="114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E4F757-4E20-EC25-B04C-455318D64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448" y="1586261"/>
            <a:ext cx="2168120" cy="22483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97123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rPr lang="en-US" dirty="0"/>
              <a:t>  4. </a:t>
            </a:r>
            <a:r>
              <a:rPr dirty="0"/>
              <a:t>Identifying Potential Churn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26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High-Risk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324612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6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2.6%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Share of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188720"/>
            <a:ext cx="3246120" cy="64008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18120" y="11887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93773"/>
                </a:solidFill>
              </a:defRPr>
            </a:pPr>
            <a:r>
              <a:t>100%</a:t>
            </a:r>
          </a:p>
          <a:p>
            <a:pPr algn="ctr">
              <a:defRPr sz="950">
                <a:solidFill>
                  <a:srgbClr val="697382"/>
                </a:solidFill>
              </a:defRPr>
            </a:pPr>
            <a:r>
              <a:t>High-Risk Group Churn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188720"/>
            <a:ext cx="3246120" cy="64008"/>
          </a:xfrm>
          <a:prstGeom prst="rect">
            <a:avLst/>
          </a:prstGeom>
          <a:solidFill>
            <a:srgbClr val="5C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🤖 Risk Segmentation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High Risk: Monthly Engagement &lt; 5 AND Duration &lt; 6 months.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Medium Risk: Monthly Engagement &lt; 8 AND Duration &lt; 12 months.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All other customers are classified as Low Risk.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This is a rule-based prioritization framework, not a machine-learning prediction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73152" cy="256032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72200" y="2926080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🎯 High-Risk Profile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Low monthly engagement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Short subscription duration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Greater need for early retention intervention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Customer-level follow-up is available in the dashboard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926080"/>
            <a:ext cx="73152" cy="2560320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73"/>
                </a:solidFill>
                <a:latin typeface="Aptos Display"/>
              </a:defRPr>
            </a:pPr>
            <a:r>
              <a:t>Business Question 5: Customer Retention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4747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🚀 Immediate Actions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Personalized email campaigns for high-risk customers.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Renewal reminders before subscription expiry.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Re-engagement campaigns for low-engagement users.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Win-back campaigns for recently churned customers.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73152" cy="4800600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1188720"/>
            <a:ext cx="34747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🎯 Loyalty &amp; Subscription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Promote longer-term subscription options.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Use loyalty rewards for continued subscription.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Create milestone-based benefits.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Test monthly-to-longer-plan conversion campaigns.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188720"/>
            <a:ext cx="73152" cy="4800600"/>
          </a:xfrm>
          <a:prstGeom prst="rect">
            <a:avLst/>
          </a:prstGeom>
          <a:solidFill>
            <a:srgbClr val="2D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0" y="1188720"/>
            <a:ext cx="34747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📈 Long-Term Analytics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Build a formal churn prediction model with sufficient historical labels.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Collect customer feedback and exit-survey data.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Automate risk alerts and retention workflows.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Track churn, CLV and engagement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188720"/>
            <a:ext cx="73152" cy="480060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Boxify Inc.  |  Customer Churn Analysis                                   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Business Insights &amp;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51460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13.4%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Overall Churn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2514600" cy="64008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37560" y="1143000"/>
            <a:ext cx="251460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134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Churned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143000"/>
            <a:ext cx="2514600" cy="64008"/>
          </a:xfrm>
          <a:prstGeom prst="rect">
            <a:avLst/>
          </a:prstGeom>
          <a:solidFill>
            <a:srgbClr val="C3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35040" y="1143000"/>
            <a:ext cx="251460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26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High-Risk Customers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2514600" cy="64008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32520" y="1143000"/>
            <a:ext cx="2514600" cy="1234440"/>
          </a:xfrm>
          <a:prstGeom prst="roundRect">
            <a:avLst/>
          </a:prstGeom>
          <a:solidFill>
            <a:srgbClr val="193773"/>
          </a:solidFill>
          <a:ln>
            <a:solidFill>
              <a:srgbClr val="23A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₹14,156</a:t>
            </a:r>
          </a:p>
          <a:p>
            <a:pPr algn="ctr">
              <a:defRPr sz="950">
                <a:solidFill>
                  <a:srgbClr val="CDDCF5"/>
                </a:solidFill>
              </a:defRPr>
            </a:pPr>
            <a:r>
              <a:t>Avg. CLV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1143000"/>
            <a:ext cx="2514600" cy="64008"/>
          </a:xfrm>
          <a:prstGeom prst="rect">
            <a:avLst/>
          </a:prstGeom>
          <a:solidFill>
            <a:srgbClr val="37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3035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📊 Key Insights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Churn is concentrated in identifiable customer segments.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Lower engagement is associated with higher churn in this dataset.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Active customers show higher average CLV than churned customers.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Risk segmentation provides a practical starting point for proactive retention.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73152" cy="2514600"/>
          </a:xfrm>
          <a:prstGeom prst="rect">
            <a:avLst/>
          </a:prstGeom>
          <a:solidFill>
            <a:srgbClr val="23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72200" y="2788920"/>
            <a:ext cx="53035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773"/>
                </a:solidFill>
              </a:defRPr>
            </a:pPr>
            <a:r>
              <a:t>🚀 Final Recommendation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Prioritize low-engagement, short-tenure customers.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Use targeted engagement and renewal interventions.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Encourage longer-term subscriptions where appropriate.</a:t>
            </a:r>
          </a:p>
          <a:p>
            <a:pPr>
              <a:spcBef>
                <a:spcPts val="700"/>
              </a:spcBef>
              <a:defRPr sz="1100">
                <a:solidFill>
                  <a:srgbClr val="262D3C"/>
                </a:solidFill>
              </a:defRPr>
            </a:pPr>
            <a:r>
              <a:t>• Monitor churn, engagement, CLV and revenue lost monthly.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788920"/>
            <a:ext cx="73152" cy="2514600"/>
          </a:xfrm>
          <a:prstGeom prst="rect">
            <a:avLst/>
          </a:prstGeom>
          <a:solidFill>
            <a:srgbClr val="E1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E1F8"/>
                </a:solidFill>
              </a:defRPr>
            </a:pPr>
            <a:r>
              <a:t>Goal: use the dashboard as an ongoing retention-monitoring tool and evaluate campaign impact over the next 6 months.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967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D2EB"/>
                </a:solidFill>
              </a:defRPr>
            </a:pPr>
            <a:r>
              <a:t>Boxify Inc.  |  Customer Churn Analysis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Boxify_Customer_Churn_Final_Presentation_With_Dashboard</Template>
  <TotalTime>6</TotalTime>
  <Words>904</Words>
  <Application>Microsoft Office PowerPoint</Application>
  <PresentationFormat>Widescreen</PresentationFormat>
  <Paragraphs>141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Mansha Pandey</dc:creator>
  <cp:keywords/>
  <dc:description>generated using python-pptx</dc:description>
  <cp:lastModifiedBy>Mansha Pandey</cp:lastModifiedBy>
  <cp:revision>1</cp:revision>
  <dcterms:created xsi:type="dcterms:W3CDTF">2026-09-24T16:19:30Z</dcterms:created>
  <dcterms:modified xsi:type="dcterms:W3CDTF">2026-09-24T16:29:57Z</dcterms:modified>
  <cp:category/>
</cp:coreProperties>
</file>