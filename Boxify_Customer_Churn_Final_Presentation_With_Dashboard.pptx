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Churned Customers by Age Group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56–60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27</c:v>
                </c:pt>
                <c:pt idx="2">
                  <c:v>38</c:v>
                </c:pt>
                <c:pt idx="3">
                  <c:v>35</c:v>
                </c:pt>
                <c:pt idx="4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Churned Customers by Subscription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24</c:v>
                </c:pt>
                <c:pt idx="2">
                  <c:v>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Churn Rate by Engagement Level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cat>
            <c:numRef>
              <c:f>Sheet1!$A$2:$A$19</c:f>
              <c:numCache>
                <c:formatCode>General</c:formatCode>
                <c:ptCount val="1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18</c:v>
                </c:pt>
              </c:numCache>
            </c:num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22.22222222222222</c:v>
                </c:pt>
                <c:pt idx="1">
                  <c:v>57.14285714285714</c:v>
                </c:pt>
                <c:pt idx="2">
                  <c:v>8.333333333333332</c:v>
                </c:pt>
                <c:pt idx="3">
                  <c:v>32.142857142857146</c:v>
                </c:pt>
                <c:pt idx="4">
                  <c:v>31.03448275862069</c:v>
                </c:pt>
                <c:pt idx="5">
                  <c:v>17.72151898734177</c:v>
                </c:pt>
                <c:pt idx="6">
                  <c:v>17.708333333333336</c:v>
                </c:pt>
                <c:pt idx="7">
                  <c:v>16.23931623931624</c:v>
                </c:pt>
                <c:pt idx="8">
                  <c:v>6.7669172932330826</c:v>
                </c:pt>
                <c:pt idx="9">
                  <c:v>5.185185185185185</c:v>
                </c:pt>
                <c:pt idx="10">
                  <c:v>9.174311926605505</c:v>
                </c:pt>
                <c:pt idx="11">
                  <c:v>12.345679012345679</c:v>
                </c:pt>
                <c:pt idx="12">
                  <c:v>9.090909090909092</c:v>
                </c:pt>
                <c:pt idx="13">
                  <c:v>14.285714285714285</c:v>
                </c:pt>
                <c:pt idx="14">
                  <c:v>5.88235294117647</c:v>
                </c:pt>
                <c:pt idx="15">
                  <c:v>14.285714285714285</c:v>
                </c:pt>
                <c:pt idx="16">
                  <c:v>0.0</c:v>
                </c:pt>
                <c:pt idx="17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Average CLV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CLV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15941.72286374134</c:v>
                </c:pt>
                <c:pt idx="1">
                  <c:v>2617.5223880597014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Customer Churn Analysis</a:t>
            </a:r>
          </a:p>
          <a:p>
            <a:pPr>
              <a:spcBef>
                <a:spcPts val="1000"/>
              </a:spcBef>
              <a:defRPr sz="2000">
                <a:solidFill>
                  <a:srgbClr val="D2E1F8"/>
                </a:solidFill>
              </a:defRPr>
            </a:pPr>
            <a:r>
              <a:t>Improving Customer Retention Through Data-Driven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3AFC3"/>
                </a:solidFill>
              </a:defRPr>
            </a:pPr>
            <a:r>
              <a:t>Boxify Inc.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Presented by : Data Analyst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3703320"/>
            <a:ext cx="132588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1,000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Total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3703320"/>
            <a:ext cx="1325880" cy="64008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0" y="3703320"/>
            <a:ext cx="132588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13.4%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Churn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3703320"/>
            <a:ext cx="132588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78440" y="3703320"/>
            <a:ext cx="132588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26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High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440" y="3703320"/>
            <a:ext cx="132588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D2EB"/>
                </a:solidFill>
              </a:defRPr>
            </a:pPr>
            <a:r>
              <a:t>Boxify Inc.  |  Customer Churn Analysis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</a:defRPr>
            </a:pPr>
            <a:r>
              <a:t>Business challenge, objective and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⚡ Business Challenge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Subscription cancellations reduce recurring revenue.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Churn also reduces potential customer lifetime value.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Management needs to identify high-risk customers and segments.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🎯 Project Objective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Understand customer churn behavior.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Identify high-risk customer segments.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Measure business impact using churn, CLV and revenue lost.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Recommend practical retention strategies.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📈 Expected Outcome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Reduce churn over the next 6 months.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Increase customer engagement and loyalty.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Improve customer lifetime value.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Reduce revenue loss from cancellations.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25880"/>
            <a:ext cx="73152" cy="448056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Understanding &amp; Analytical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🔍 Business Questions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Which customer segments have the highest churn?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How does customer engagement influence churn?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How does CLV differ between active and churned customers?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Which customers should be prioritized for retention?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What strategies can reduce future churn?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475488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⚙️ Analytical Process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1. Business Understanding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2. Data Preparation &amp; Cleaning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3. Feature Engineering — Age Group &amp; Risk Level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4. KPI Development using DAX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5. Power BI Dashboard Development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6. Business Insights &amp;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73152" cy="475488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</a:defRPr>
            </a:pPr>
            <a:r>
              <a:t>Final Power BI dashboard</a:t>
            </a:r>
          </a:p>
        </p:txBody>
      </p:sp>
      <p:pic>
        <p:nvPicPr>
          <p:cNvPr id="5" name="Picture 4" descr="boxify_final_dashboard_fo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1018520" cy="101987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1: Which Customer Segments Have the Highest Churn?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34440"/>
          <a:ext cx="53492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234440"/>
          <a:ext cx="534924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9476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📊 Key Findings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36–45 has the highest churn rate at 15.6%.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Standard has the highest subscription-type churn rate at 14.3%.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Pune has the highest observed location churn rate at 17.6%.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94760"/>
            <a:ext cx="73152" cy="201168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79476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💡 Business Insight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Segment-specific retention campaigns can be more focused than one-size-fits-all offers.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Shorter-tenure and monthly customers should be monitored early.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Location filters can support localized retention actions.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794760"/>
            <a:ext cx="73152" cy="201168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2: How Does Customer Engagement Influence Churn?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2: How Does Customer Engagement Influence Churn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18872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46520" y="13258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29.8%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Low engagement (0–4)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325880"/>
            <a:ext cx="224028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0" y="13258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8.4%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Higher engagement (8+)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325880"/>
            <a:ext cx="2240280" cy="64008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880360"/>
            <a:ext cx="4754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💡 Business Insight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The current dataset shows an inverse relationship: churn tends to be higher at lower engagement.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Low-engagement customers can be treated as an early-warning segment.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Onboarding, nudges and re-engagement can be tested for this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880360"/>
            <a:ext cx="73152" cy="251460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3: Customer Lifetime Value &amp; Revenue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₹15,942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Average CLV — 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3246120" cy="64008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₹2,618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Average CLV — Churned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24612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₹350,748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Revenue Lost Due to Churn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188720"/>
            <a:ext cx="324612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2926080"/>
          <a:ext cx="530352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292608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💰 Business Insight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Active customers have higher average CLV than churned customers in the prepared dataset.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Retention protects both recurring revenue and future customer value.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CLV should be monitored alongside churn when prioritizing retention efforts.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73152" cy="242316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4: Identifying Potential Churn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4: Identifying Potential Churn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26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High-Risk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324612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2.6%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Share of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24612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100%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High-Risk Group Churn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188720"/>
            <a:ext cx="3246120" cy="64008"/>
          </a:xfrm>
          <a:prstGeom prst="rect">
            <a:avLst/>
          </a:prstGeom>
          <a:solidFill>
            <a:srgbClr val="5C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🤖 Risk Segmentation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High Risk: Monthly Engagement &lt; 5 AND Duration &lt; 6 months.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Medium Risk: Monthly Engagement &lt; 8 AND Duration &lt; 12 months.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All other customers are classified as Low Risk.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This is a rule-based prioritization framework, not a machine-learning prediction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73152" cy="256032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29260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🎯 High-Risk Profile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Low monthly engagement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Short subscription duration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Greater need for early retention intervention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Customer-level follow-up is available in the dashboard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926080"/>
            <a:ext cx="73152" cy="2560320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5: Customer Retention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74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🚀 Immediate Actions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Personalized email campaigns for high-risk customers.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Renewal reminders before subscription expiry.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Re-engagement campaigns for low-engagement users.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Win-back campaigns for recently churned customers.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73152" cy="480060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1188720"/>
            <a:ext cx="3474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🎯 Loyalty &amp; Subscription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Promote longer-term subscription options.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Use loyalty rewards for continued subscription.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Create milestone-based benefits.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Test monthly-to-longer-plan conversion campaigns.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88720"/>
            <a:ext cx="73152" cy="480060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474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📈 Long-Term Analytics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Build a formal churn prediction model with sufficient historical labels.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Collect customer feedback and exit-survey data.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Automate risk alerts and retention workflows.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Track churn, CLV and engagement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188720"/>
            <a:ext cx="73152" cy="480060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Business Insights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13.4%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Overall Churn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51460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134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Churned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143000"/>
            <a:ext cx="251460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26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High-Risk 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2514600" cy="64008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3252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₹14,156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Avg. CLV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1143000"/>
            <a:ext cx="2514600" cy="64008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3035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📊 Key Insights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Churn is concentrated in identifiable customer segments.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Lower engagement is associated with higher churn in this dataset.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Active customers show higher average CLV than churned customers.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Risk segmentation provides a practical starting point for proactive retention.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251460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2788920"/>
            <a:ext cx="53035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🚀 Final Recommendation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Prioritize low-engagement, short-tenure customers.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Use targeted engagement and renewal interventions.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Encourage longer-term subscriptions where appropriate.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Monitor churn, engagement, CLV and revenue lost monthly.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88920"/>
            <a:ext cx="73152" cy="251460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E1F8"/>
                </a:solidFill>
              </a:defRPr>
            </a:pPr>
            <a:r>
              <a:t>Goal: use the dashboard as an ongoing retention-monitoring tool and evaluate campaign impact over the next 6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D2EB"/>
                </a:solidFill>
              </a:defRPr>
            </a:pPr>
            <a:r>
              <a:t>Boxify Inc.  |  Customer Churn Analysis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